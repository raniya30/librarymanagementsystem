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3FA7D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875995"/>
            <a:ext cx="625450" cy="6254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3FA7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 PROGRAMMING PROJECT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697480"/>
            <a:ext cx="9601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Library Management</a:t>
            </a:r>
            <a:endParaRPr lang="en-US" sz="5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822960" y="4526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console-based CRUD application for managing library records — adding, viewing, searching, issuing, and returning books.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5623560"/>
            <a:ext cx="3108960" cy="0"/>
          </a:xfrm>
          <a:prstGeom prst="line">
            <a:avLst/>
          </a:prstGeom>
          <a:noFill/>
          <a:ln w="12700">
            <a:solidFill>
              <a:srgbClr val="445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Ramya N-811325104169  •  Raniya A-811325104170  •  Sahana D-811325104185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Members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minds behind the project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5188" y="192024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81048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776" y="2487168"/>
            <a:ext cx="694944" cy="6949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8068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Ramya N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9980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811325104169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472788" y="192024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5638648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2487168"/>
            <a:ext cx="694944" cy="69494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55668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Raniya A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46556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811325104170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8130388" y="1920240"/>
            <a:ext cx="3246120" cy="3017520"/>
          </a:xfrm>
          <a:prstGeom prst="roundRect">
            <a:avLst>
              <a:gd name="adj" fmla="val 3636"/>
            </a:avLst>
          </a:prstGeom>
          <a:solidFill>
            <a:srgbClr val="F4F6FC"/>
          </a:solidFill>
          <a:ln/>
          <a:effectLst>
            <a:outerShdw sx="100000" sy="100000" kx="0" ky="0" algn="bl" rotWithShape="0" blurRad="127000" dist="38100" dir="5400000">
              <a:srgbClr val="1E2761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9296248" y="2377440"/>
            <a:ext cx="914400" cy="914400"/>
          </a:xfrm>
          <a:prstGeom prst="ellipse">
            <a:avLst/>
          </a:prstGeom>
          <a:solidFill>
            <a:srgbClr val="CADCFC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76" y="2487168"/>
            <a:ext cx="694944" cy="69494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313268" y="35204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Sahana D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8313268" y="402336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811325104185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502920" y="160020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F4F6FC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187452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Library Management System is a console-based application developed using the C programming language to simplify the management of library records.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allows users to perform essential library operations — adding new books, viewing all available books, searching for books by ID, issuing books, and returning books.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315200" y="160020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589520" y="173736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400" dirty="0"/>
          </a:p>
        </p:txBody>
      </p:sp>
      <p:sp>
        <p:nvSpPr>
          <p:cNvPr id="10" name="Text 7"/>
          <p:cNvSpPr/>
          <p:nvPr/>
        </p:nvSpPr>
        <p:spPr>
          <a:xfrm>
            <a:off x="9052560" y="160020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CRUD Operations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315200" y="315468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589520" y="32918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400" dirty="0"/>
          </a:p>
        </p:txBody>
      </p:sp>
      <p:sp>
        <p:nvSpPr>
          <p:cNvPr id="13" name="Text 10"/>
          <p:cNvSpPr/>
          <p:nvPr/>
        </p:nvSpPr>
        <p:spPr>
          <a:xfrm>
            <a:off x="9052560" y="315468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 C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315200" y="4709160"/>
            <a:ext cx="4343400" cy="1325880"/>
          </a:xfrm>
          <a:prstGeom prst="roundRect">
            <a:avLst>
              <a:gd name="adj" fmla="val 6897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589520" y="484632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O(n)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9052560" y="4709160"/>
            <a:ext cx="2423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Complexity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Concepts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 features that power the system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7" name="Shape 4"/>
          <p:cNvSpPr/>
          <p:nvPr/>
        </p:nvSpPr>
        <p:spPr>
          <a:xfrm>
            <a:off x="731520" y="20848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1746" y="2155058"/>
            <a:ext cx="444764" cy="4447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463040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Structures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463040" y="22219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details — ID, Title, Author, Category, Publisher, Year, Quantity, Price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6355080" y="169164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2" name="Shape 8"/>
          <p:cNvSpPr/>
          <p:nvPr/>
        </p:nvSpPr>
        <p:spPr>
          <a:xfrm>
            <a:off x="6583680" y="208483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3906" y="2155058"/>
            <a:ext cx="444764" cy="44476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315200" y="183794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7315200" y="222199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Storing multiple book records in memory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02920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17" name="Shape 12"/>
          <p:cNvSpPr/>
          <p:nvPr/>
        </p:nvSpPr>
        <p:spPr>
          <a:xfrm>
            <a:off x="731520" y="35935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1746" y="3663818"/>
            <a:ext cx="444764" cy="44476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463040" y="3346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1463040" y="37307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operations for each library task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355080" y="320040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2" name="Shape 16"/>
          <p:cNvSpPr/>
          <p:nvPr/>
        </p:nvSpPr>
        <p:spPr>
          <a:xfrm>
            <a:off x="6583680" y="359359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3906" y="3663818"/>
            <a:ext cx="444764" cy="44476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315200" y="334670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&amp; Conditionals</a:t>
            </a:r>
            <a:endParaRPr lang="en-US" sz="1600" dirty="0"/>
          </a:p>
        </p:txBody>
      </p:sp>
      <p:sp>
        <p:nvSpPr>
          <p:cNvPr id="25" name="Text 18"/>
          <p:cNvSpPr/>
          <p:nvPr/>
        </p:nvSpPr>
        <p:spPr>
          <a:xfrm>
            <a:off x="7315200" y="373075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Traversing records and controlling program flow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502920" y="4709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27" name="Shape 20"/>
          <p:cNvSpPr/>
          <p:nvPr/>
        </p:nvSpPr>
        <p:spPr>
          <a:xfrm>
            <a:off x="731520" y="51023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1746" y="5172578"/>
            <a:ext cx="444764" cy="44476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46304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 Handling</a:t>
            </a:r>
            <a:endParaRPr lang="en-US" sz="1600" dirty="0"/>
          </a:p>
        </p:txBody>
      </p:sp>
      <p:sp>
        <p:nvSpPr>
          <p:cNvPr id="30" name="Text 22"/>
          <p:cNvSpPr/>
          <p:nvPr/>
        </p:nvSpPr>
        <p:spPr>
          <a:xfrm>
            <a:off x="1463040" y="52395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fgets() and strcspn() for safe text input</a:t>
            </a:r>
            <a:endParaRPr lang="en-US" sz="1250" dirty="0"/>
          </a:p>
        </p:txBody>
      </p:sp>
      <p:sp>
        <p:nvSpPr>
          <p:cNvPr id="31" name="Shape 23"/>
          <p:cNvSpPr/>
          <p:nvPr/>
        </p:nvSpPr>
        <p:spPr>
          <a:xfrm>
            <a:off x="6355080" y="4709160"/>
            <a:ext cx="5394960" cy="1371600"/>
          </a:xfrm>
          <a:prstGeom prst="roundRect">
            <a:avLst>
              <a:gd name="adj" fmla="val 6667"/>
            </a:avLst>
          </a:prstGeom>
          <a:solidFill>
            <a:srgbClr val="F4F6FC"/>
          </a:solidFill>
          <a:ln/>
        </p:spPr>
      </p:sp>
      <p:sp>
        <p:nvSpPr>
          <p:cNvPr id="32" name="Shape 24"/>
          <p:cNvSpPr/>
          <p:nvPr/>
        </p:nvSpPr>
        <p:spPr>
          <a:xfrm>
            <a:off x="6583680" y="5102352"/>
            <a:ext cx="585216" cy="58521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53906" y="5172578"/>
            <a:ext cx="444764" cy="44476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7315200" y="4855464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Validation</a:t>
            </a:r>
            <a:endParaRPr lang="en-US" sz="1600" dirty="0"/>
          </a:p>
        </p:txBody>
      </p:sp>
      <p:sp>
        <p:nvSpPr>
          <p:cNvPr id="35" name="Text 26"/>
          <p:cNvSpPr/>
          <p:nvPr/>
        </p:nvSpPr>
        <p:spPr>
          <a:xfrm>
            <a:off x="7315200" y="5239512"/>
            <a:ext cx="4206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duplicate Book IDs and invalid data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 Used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functions drive the entire program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691640"/>
            <a:ext cx="11201400" cy="65836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9164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findId()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291840" y="169164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 book using Book ID and returns its index.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502920" y="2404872"/>
            <a:ext cx="11201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404872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addBook()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291840" y="240487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a new book after validating the entered details.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02920" y="3118104"/>
            <a:ext cx="11201400" cy="65836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118104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viewBook()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3291840" y="3118104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all available book records.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02920" y="3831336"/>
            <a:ext cx="11201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831336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searchBook()</a:t>
            </a:r>
            <a:endParaRPr lang="en-US" sz="1450" dirty="0"/>
          </a:p>
        </p:txBody>
      </p:sp>
      <p:sp>
        <p:nvSpPr>
          <p:cNvPr id="17" name="Text 14"/>
          <p:cNvSpPr/>
          <p:nvPr/>
        </p:nvSpPr>
        <p:spPr>
          <a:xfrm>
            <a:off x="3291840" y="3831336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and displays a book using its Book ID.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02920" y="4544568"/>
            <a:ext cx="11201400" cy="658368"/>
          </a:xfrm>
          <a:prstGeom prst="rect">
            <a:avLst/>
          </a:prstGeom>
          <a:solidFill>
            <a:srgbClr val="F4F6FC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544568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issueBook()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3291840" y="454456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 a book by decreasing its available quantity.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02920" y="5257800"/>
            <a:ext cx="1120140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257800"/>
            <a:ext cx="2377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returnBook()</a:t>
            </a:r>
            <a:endParaRPr lang="en-US" sz="1450" dirty="0"/>
          </a:p>
        </p:txBody>
      </p:sp>
      <p:sp>
        <p:nvSpPr>
          <p:cNvPr id="23" name="Text 20"/>
          <p:cNvSpPr/>
          <p:nvPr/>
        </p:nvSpPr>
        <p:spPr>
          <a:xfrm>
            <a:off x="3291840" y="52578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book by increasing its available quantity.</a:t>
            </a:r>
            <a:endParaRPr lang="en-US" sz="1350" dirty="0"/>
          </a:p>
        </p:txBody>
      </p:sp>
      <p:sp>
        <p:nvSpPr>
          <p:cNvPr id="24" name="Text 21"/>
          <p:cNvSpPr/>
          <p:nvPr/>
        </p:nvSpPr>
        <p:spPr>
          <a:xfrm>
            <a:off x="502920" y="6016752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main() drives it all — displays the menu and controls execution via a switch statement.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Mapping the Project to CRUD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library operation maps to a classic CRUD action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8580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4600" dirty="0"/>
          </a:p>
        </p:txBody>
      </p:sp>
      <p:sp>
        <p:nvSpPr>
          <p:cNvPr id="8" name="Shape 5"/>
          <p:cNvSpPr/>
          <p:nvPr/>
        </p:nvSpPr>
        <p:spPr>
          <a:xfrm>
            <a:off x="242316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510" y="2099462"/>
            <a:ext cx="382219" cy="3822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8580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8580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addBook()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8580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a new book record into the array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342900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61188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600" dirty="0"/>
          </a:p>
        </p:txBody>
      </p:sp>
      <p:sp>
        <p:nvSpPr>
          <p:cNvPr id="16" name="Shape 12"/>
          <p:cNvSpPr/>
          <p:nvPr/>
        </p:nvSpPr>
        <p:spPr>
          <a:xfrm>
            <a:off x="534924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2099462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1188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361188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1188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viewBook() / searchBook()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361188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all records or look up one by ID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635508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53796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600" dirty="0"/>
          </a:p>
        </p:txBody>
      </p:sp>
      <p:sp>
        <p:nvSpPr>
          <p:cNvPr id="24" name="Shape 19"/>
          <p:cNvSpPr/>
          <p:nvPr/>
        </p:nvSpPr>
        <p:spPr>
          <a:xfrm>
            <a:off x="827532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670" y="2099462"/>
            <a:ext cx="382219" cy="38221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53796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</a:t>
            </a:r>
            <a:endParaRPr lang="en-US" sz="1600" dirty="0"/>
          </a:p>
        </p:txBody>
      </p:sp>
      <p:sp>
        <p:nvSpPr>
          <p:cNvPr id="27" name="Shape 21"/>
          <p:cNvSpPr/>
          <p:nvPr/>
        </p:nvSpPr>
        <p:spPr>
          <a:xfrm>
            <a:off x="653796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53796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issueBook() / returnBook()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653796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Modify quantity when a book is issued or returned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9281160" y="1783080"/>
            <a:ext cx="2697480" cy="4206240"/>
          </a:xfrm>
          <a:prstGeom prst="roundRect">
            <a:avLst>
              <a:gd name="adj" fmla="val 406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5400000">
              <a:srgbClr val="000000">
                <a:alpha val="18000"/>
              </a:srgbClr>
            </a:outerShdw>
          </a:effectLst>
        </p:spPr>
      </p:sp>
      <p:sp>
        <p:nvSpPr>
          <p:cNvPr id="31" name="Text 25"/>
          <p:cNvSpPr/>
          <p:nvPr/>
        </p:nvSpPr>
        <p:spPr>
          <a:xfrm>
            <a:off x="9464040" y="192024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FA7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4600" dirty="0"/>
          </a:p>
        </p:txBody>
      </p:sp>
      <p:sp>
        <p:nvSpPr>
          <p:cNvPr id="32" name="Shape 26"/>
          <p:cNvSpPr/>
          <p:nvPr/>
        </p:nvSpPr>
        <p:spPr>
          <a:xfrm>
            <a:off x="11201400" y="2039112"/>
            <a:ext cx="502920" cy="502920"/>
          </a:xfrm>
          <a:prstGeom prst="ellipse">
            <a:avLst/>
          </a:prstGeom>
          <a:solidFill>
            <a:srgbClr val="2A3572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61750" y="2099462"/>
            <a:ext cx="382219" cy="382219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464040" y="28803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9464040" y="3319272"/>
            <a:ext cx="2331720" cy="0"/>
          </a:xfrm>
          <a:prstGeom prst="line">
            <a:avLst/>
          </a:prstGeom>
          <a:noFill/>
          <a:ln w="12700">
            <a:solidFill>
              <a:srgbClr val="3A4680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9464040" y="34747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D8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deleteBook()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9464040" y="402336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 book record from the catalog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 Record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struct backs every CRUD operation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554480"/>
            <a:ext cx="5120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operation reads from or writes to one array of Book structures held in memory.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02920" y="256032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ID uniquely identifies each record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array (MAX = 100) keeps the system simple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tracks how many books are currently stored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989320" y="1554480"/>
            <a:ext cx="5715000" cy="4663440"/>
          </a:xfrm>
          <a:prstGeom prst="roundRect">
            <a:avLst>
              <a:gd name="adj" fmla="val 1569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153912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0" name="Shape 7"/>
          <p:cNvSpPr/>
          <p:nvPr/>
        </p:nvSpPr>
        <p:spPr>
          <a:xfrm>
            <a:off x="6355080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1" name="Shape 8"/>
          <p:cNvSpPr/>
          <p:nvPr/>
        </p:nvSpPr>
        <p:spPr>
          <a:xfrm>
            <a:off x="6556248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2" name="Text 9"/>
          <p:cNvSpPr/>
          <p:nvPr/>
        </p:nvSpPr>
        <p:spPr>
          <a:xfrm>
            <a:off x="6217920" y="1938528"/>
            <a:ext cx="5257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#define MAX 100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typedef struct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title[100];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author[100];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category[50];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char publisher[100];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year;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quantity;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float price;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 Book;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 books[MAX];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count = 0;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— addBook()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book to the catalog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Check — findId() scans existing records to prevent ID conflicts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Sanitization — fgets() and strcspn() for clean string handling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ensures positive values for price and quantity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892040"/>
          </a:xfrm>
          <a:prstGeom prst="roundRect">
            <a:avLst>
              <a:gd name="adj" fmla="val 1495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addBook()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 b;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&amp;b.id);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(findId(b.id) != -1)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printf("Duplicate ID!\n");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getchar();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printf("Title: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fgets(b.title, 100, stdin);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b.title[strcspn(b.title, "\n")] = 0;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printf("Quantity: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&amp;b.quantity);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printf("Price: 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scanf("%f", &amp;b.price);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(b.quantity &lt; 0 || b.price &lt; 0) {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printf("Invalid data!\n");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books[count++] = b;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added.\n");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— viewBook()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Displaying the full library inventory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through the global book array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Formatted output for every stored attribute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Empty-state check informs users if the library is vacant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206240"/>
          </a:xfrm>
          <a:prstGeom prst="roundRect">
            <a:avLst>
              <a:gd name="adj" fmla="val 1739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viewBook()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(count == 0)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printf("Library is empty.\n");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0; i &lt; count; i++)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printf("ID: %d\n", books[i].id);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printf("Title: %s\n", books[i].title);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printf("Author: %s\n", books[i].author);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printf("Qty: %d | Price: %.2f\n",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books[i].quantity,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books[i].price);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printf("------------------------\n");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— searchBook()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Locating one record in O(n) time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Leverages the findId() helper to locate specific records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pulls up details using a unique Book ID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for targeted queries even as the catalog grows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892040"/>
          </a:xfrm>
          <a:prstGeom prst="roundRect">
            <a:avLst>
              <a:gd name="adj" fmla="val 1495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34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findId(int id)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0; i &lt; count; i++)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if (books[i].id == id)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return i;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-1;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searchBook()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printf("Title: %s\n", books[idx].title);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printf("Qty: %d\n", books[idx].quantity);</a:t>
            </a:r>
            <a:endParaRPr lang="en-US" sz="12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— issueBook()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out a book reduces its availability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 locates the record via findId()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calculation reduces the quantity register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Quantity_new = Quantity_old − 1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572000"/>
          </a:xfrm>
          <a:prstGeom prst="roundRect">
            <a:avLst>
              <a:gd name="adj" fmla="val 1600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issueBook()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(books[idx].quantity &lt;= 0) {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printf("Out of stock.\n");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books[idx].quantity--;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issued. Remaining: %d\n",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books[idx].quantity);</a:t>
            </a:r>
            <a:endParaRPr lang="en-US" sz="13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UPDATE — returnBook()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a book restores its availability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recovery — re-indexes the returning copy via ID lookup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Incrementation increases the available count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analytics prints the updated value back to the terminal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297680"/>
          </a:xfrm>
          <a:prstGeom prst="roundRect">
            <a:avLst>
              <a:gd name="adj" fmla="val 1702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returnBook()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books[idx].quantity++;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returned. Available: %d\n",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books[idx].quantity);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DELETE — deleteBook()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Completing the CRUD set by removing a record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02920" y="1600200"/>
            <a:ext cx="5120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in the original menu — added here to complete CRUD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Locates the record via findId()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445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subsequent records left to close the gap, then shrinks count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989320" y="1600200"/>
            <a:ext cx="5715000" cy="4663440"/>
          </a:xfrm>
          <a:prstGeom prst="roundRect">
            <a:avLst>
              <a:gd name="adj" fmla="val 1569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153912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6"/>
          <p:cNvSpPr/>
          <p:nvPr/>
        </p:nvSpPr>
        <p:spPr>
          <a:xfrm>
            <a:off x="6355080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7"/>
          <p:cNvSpPr/>
          <p:nvPr/>
        </p:nvSpPr>
        <p:spPr>
          <a:xfrm>
            <a:off x="6556248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8"/>
          <p:cNvSpPr/>
          <p:nvPr/>
        </p:nvSpPr>
        <p:spPr>
          <a:xfrm>
            <a:off x="6217920" y="1984248"/>
            <a:ext cx="52578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deleteBook()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id, idx;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printf("Enter Book ID: 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scanf("%d", &amp;id);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idx = findId(id);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if (idx == -1) {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printf("Book not found.\n");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return;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for (int i = idx; i &lt; count - 1; i++)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books[i] = books[i + 1];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count--;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printf("Book deleted.\n");</a:t>
            </a:r>
            <a:endParaRPr lang="en-US" sz="13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951" y="525231"/>
            <a:ext cx="430865" cy="4308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main() — Tying It Together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234440" y="868680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statement drives every CRUD action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22960" y="1691640"/>
            <a:ext cx="10515600" cy="4572000"/>
          </a:xfrm>
          <a:prstGeom prst="roundRect">
            <a:avLst>
              <a:gd name="adj" fmla="val 1600"/>
            </a:avLst>
          </a:prstGeom>
          <a:solidFill>
            <a:srgbClr val="0F1535"/>
          </a:solidFill>
          <a:ln/>
          <a:effectLst>
            <a:outerShdw sx="100000" sy="100000" kx="0" ky="0" algn="bl" rotWithShape="0" blurRad="101600" dist="38100" dir="5400000">
              <a:srgbClr val="000000">
                <a:alpha val="2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987552" y="18379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5"/>
          <p:cNvSpPr/>
          <p:nvPr/>
        </p:nvSpPr>
        <p:spPr>
          <a:xfrm>
            <a:off x="1188720" y="18379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6"/>
          <p:cNvSpPr/>
          <p:nvPr/>
        </p:nvSpPr>
        <p:spPr>
          <a:xfrm>
            <a:off x="1389888" y="18379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2075688"/>
            <a:ext cx="10058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main()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int choice;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do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printf("1.Add 2.View 3.Search "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   "4.Issue 5.Return 6.Delete 0.Exit\n");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scanf("%d", &amp;choice);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switch (choice) {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1: addBook();   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2: viewBook();  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3: searchBook();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4: issueBook(); 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5: returnBook();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    case 6: deleteBook(); break;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    }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} while (choice != 0);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  return 0;</a:t>
            </a:r>
            <a:endParaRPr lang="en-US" sz="15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D7E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4754880" cy="47548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Shape 2"/>
          <p:cNvSpPr/>
          <p:nvPr/>
        </p:nvSpPr>
        <p:spPr>
          <a:xfrm>
            <a:off x="5592928" y="2148840"/>
            <a:ext cx="1005840" cy="1005840"/>
          </a:xfrm>
          <a:prstGeom prst="ellipse">
            <a:avLst/>
          </a:prstGeom>
          <a:solidFill>
            <a:srgbClr val="3FA7D6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3628" y="2269541"/>
            <a:ext cx="764438" cy="7644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338328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0" y="42519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Management System — Ramya N-811325104169  •  Raniya A-811325104170  •  Sahana D-811325104185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Library Management System</dc:title>
  <dc:subject>PptxGenJS Presentation</dc:subject>
  <dc:creator>Ramya N, Raniya A, Sahana D</dc:creator>
  <cp:lastModifiedBy>Ramya N, Raniya A, Sahana D</cp:lastModifiedBy>
  <cp:revision>1</cp:revision>
  <dcterms:created xsi:type="dcterms:W3CDTF">2026-07-07T11:26:35Z</dcterms:created>
  <dcterms:modified xsi:type="dcterms:W3CDTF">2026-07-07T11:26:35Z</dcterms:modified>
</cp:coreProperties>
</file>